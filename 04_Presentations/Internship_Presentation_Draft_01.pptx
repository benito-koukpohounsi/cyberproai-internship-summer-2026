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E5F385-DA11-480F-B8F4-79D682A381F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CBF6B6-C163-41F1-B2B3-5C3CE03D75D4}">
      <dgm:prSet phldrT="[Text]"/>
      <dgm:spPr/>
      <dgm:t>
        <a:bodyPr/>
        <a:lstStyle/>
        <a:p>
          <a:pPr>
            <a:buNone/>
          </a:pPr>
          <a:r>
            <a:rPr lang="en-US" dirty="0"/>
            <a:t>Organization Overview</a:t>
          </a:r>
        </a:p>
      </dgm:t>
    </dgm:pt>
    <dgm:pt modelId="{5DB8F82B-2AAE-4F6D-90C5-75350587ED1A}" type="parTrans" cxnId="{4C444401-E8B1-4968-ACE1-803D82E6EB0E}">
      <dgm:prSet/>
      <dgm:spPr/>
      <dgm:t>
        <a:bodyPr/>
        <a:lstStyle/>
        <a:p>
          <a:endParaRPr lang="en-US"/>
        </a:p>
      </dgm:t>
    </dgm:pt>
    <dgm:pt modelId="{DCFE8F60-7EEF-437B-92F3-1D89C44A6187}" type="sibTrans" cxnId="{4C444401-E8B1-4968-ACE1-803D82E6EB0E}">
      <dgm:prSet/>
      <dgm:spPr/>
      <dgm:t>
        <a:bodyPr/>
        <a:lstStyle/>
        <a:p>
          <a:endParaRPr lang="en-US"/>
        </a:p>
      </dgm:t>
    </dgm:pt>
    <dgm:pt modelId="{4D741E7A-58FF-42F5-8BA0-E1B939CFD56E}">
      <dgm:prSet phldrT="[Text]" custT="1"/>
      <dgm:spPr/>
      <dgm:t>
        <a:bodyPr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CYBERPROAi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 is an organization that provides information technology and cybersecurity services designed to support business operations and protect digital assets. implementing industry best practices.</a:t>
          </a:r>
        </a:p>
      </dgm:t>
    </dgm:pt>
    <dgm:pt modelId="{EB5D254A-A0F3-433C-9834-F568797189B7}" type="parTrans" cxnId="{0D36762B-ED64-4F9F-AD60-AA8D44B1E126}">
      <dgm:prSet/>
      <dgm:spPr/>
      <dgm:t>
        <a:bodyPr/>
        <a:lstStyle/>
        <a:p>
          <a:endParaRPr lang="en-US"/>
        </a:p>
      </dgm:t>
    </dgm:pt>
    <dgm:pt modelId="{0FEA1613-9C8E-4DA3-8BF1-10E92F73748F}" type="sibTrans" cxnId="{0D36762B-ED64-4F9F-AD60-AA8D44B1E126}">
      <dgm:prSet/>
      <dgm:spPr/>
      <dgm:t>
        <a:bodyPr/>
        <a:lstStyle/>
        <a:p>
          <a:endParaRPr lang="en-US"/>
        </a:p>
      </dgm:t>
    </dgm:pt>
    <dgm:pt modelId="{E5E4318D-9ED1-4E46-A498-36324F349D39}">
      <dgm:prSet phldrT="[Text]" custT="1"/>
      <dgm:spPr/>
      <dgm:t>
        <a:bodyPr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600" kern="1200" dirty="0"/>
            <a:t>The company focuses on maintaining secure systems, troubleshooting technical issues, and </a:t>
          </a:r>
        </a:p>
      </dgm:t>
    </dgm:pt>
    <dgm:pt modelId="{CB923E39-2FDD-40AB-8D6A-34F911169CD1}" type="parTrans" cxnId="{EFCEDD44-B63D-41F0-B696-1A048F47A254}">
      <dgm:prSet/>
      <dgm:spPr/>
      <dgm:t>
        <a:bodyPr/>
        <a:lstStyle/>
        <a:p>
          <a:endParaRPr lang="en-US"/>
        </a:p>
      </dgm:t>
    </dgm:pt>
    <dgm:pt modelId="{AF39A8AF-22A1-4D98-A3E0-EF99A3BA8FCC}" type="sibTrans" cxnId="{EFCEDD44-B63D-41F0-B696-1A048F47A254}">
      <dgm:prSet/>
      <dgm:spPr/>
      <dgm:t>
        <a:bodyPr/>
        <a:lstStyle/>
        <a:p>
          <a:endParaRPr lang="en-US"/>
        </a:p>
      </dgm:t>
    </dgm:pt>
    <dgm:pt modelId="{AA57FD0D-07C7-4AF7-A9EB-CFF90EDCCE8D}">
      <dgm:prSet phldrT="[Text]"/>
      <dgm:spPr/>
      <dgm:t>
        <a:bodyPr/>
        <a:lstStyle/>
        <a:p>
          <a:pPr>
            <a:buNone/>
          </a:pPr>
          <a:r>
            <a:rPr lang="en-US" dirty="0"/>
            <a:t>Project Purpose</a:t>
          </a:r>
        </a:p>
      </dgm:t>
    </dgm:pt>
    <dgm:pt modelId="{D72577E5-689C-4DB6-BE33-1A314B834290}" type="parTrans" cxnId="{A18E4D59-AB5C-47DA-8FD5-FC966E33FFB0}">
      <dgm:prSet/>
      <dgm:spPr/>
      <dgm:t>
        <a:bodyPr/>
        <a:lstStyle/>
        <a:p>
          <a:endParaRPr lang="en-US"/>
        </a:p>
      </dgm:t>
    </dgm:pt>
    <dgm:pt modelId="{3D6AFBF5-3A3F-4905-B61B-012654FD0FAD}" type="sibTrans" cxnId="{A18E4D59-AB5C-47DA-8FD5-FC966E33FFB0}">
      <dgm:prSet/>
      <dgm:spPr/>
      <dgm:t>
        <a:bodyPr/>
        <a:lstStyle/>
        <a:p>
          <a:endParaRPr lang="en-US"/>
        </a:p>
      </dgm:t>
    </dgm:pt>
    <dgm:pt modelId="{32D3D5C7-C654-4416-858E-988E892636BC}">
      <dgm:prSet phldrT="[Text]" phldr="0" custT="1"/>
      <dgm:spPr/>
      <dgm:t>
        <a:bodyPr/>
        <a:lstStyle/>
        <a:p>
          <a:pPr marL="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To gain practical experience in cybersecurity operations and information technology support.</a:t>
          </a:r>
        </a:p>
      </dgm:t>
    </dgm:pt>
    <dgm:pt modelId="{3DA7BA99-390B-4C7B-BF09-35D76468FFC0}" type="parTrans" cxnId="{ED6EDA0C-911E-452E-9091-4BCB3EC40D41}">
      <dgm:prSet/>
      <dgm:spPr/>
      <dgm:t>
        <a:bodyPr/>
        <a:lstStyle/>
        <a:p>
          <a:endParaRPr lang="en-US"/>
        </a:p>
      </dgm:t>
    </dgm:pt>
    <dgm:pt modelId="{28A9104A-FDAB-4A56-8338-7A294A492DDD}" type="sibTrans" cxnId="{ED6EDA0C-911E-452E-9091-4BCB3EC40D41}">
      <dgm:prSet/>
      <dgm:spPr/>
      <dgm:t>
        <a:bodyPr/>
        <a:lstStyle/>
        <a:p>
          <a:endParaRPr lang="en-US"/>
        </a:p>
      </dgm:t>
    </dgm:pt>
    <dgm:pt modelId="{77865AB4-7876-42B8-94D3-542940CA990A}">
      <dgm:prSet phldrT="[Text]" custT="1"/>
      <dgm:spPr/>
      <dgm:t>
        <a:bodyPr/>
        <a:lstStyle/>
        <a:p>
          <a:pPr marL="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To apply cybersecurity concepts learned in academic coursework to real-world environments.</a:t>
          </a:r>
        </a:p>
      </dgm:t>
    </dgm:pt>
    <dgm:pt modelId="{4A852470-BA90-4868-9B37-E53ED91AE629}" type="parTrans" cxnId="{8A6B2978-BFCF-40AF-A2BB-D923A692B0F6}">
      <dgm:prSet/>
      <dgm:spPr/>
      <dgm:t>
        <a:bodyPr/>
        <a:lstStyle/>
        <a:p>
          <a:endParaRPr lang="en-US"/>
        </a:p>
      </dgm:t>
    </dgm:pt>
    <dgm:pt modelId="{9781D616-1D5E-4760-9509-3D3A623129F1}" type="sibTrans" cxnId="{8A6B2978-BFCF-40AF-A2BB-D923A692B0F6}">
      <dgm:prSet/>
      <dgm:spPr/>
      <dgm:t>
        <a:bodyPr/>
        <a:lstStyle/>
        <a:p>
          <a:endParaRPr lang="en-US"/>
        </a:p>
      </dgm:t>
    </dgm:pt>
    <dgm:pt modelId="{888FBDE6-0B07-461B-BF1C-6D0873063A23}">
      <dgm:prSet phldrT="[Text]"/>
      <dgm:spPr/>
      <dgm:t>
        <a:bodyPr/>
        <a:lstStyle/>
        <a:p>
          <a:pPr>
            <a:buNone/>
          </a:pPr>
          <a:r>
            <a:rPr lang="en-US" dirty="0"/>
            <a:t>Project Objectives</a:t>
          </a:r>
        </a:p>
      </dgm:t>
    </dgm:pt>
    <dgm:pt modelId="{0A70D9EE-822D-40B8-BFA1-2A6C8E772A56}" type="parTrans" cxnId="{3B338E58-58EF-4F7D-9492-861E55D855F1}">
      <dgm:prSet/>
      <dgm:spPr/>
      <dgm:t>
        <a:bodyPr/>
        <a:lstStyle/>
        <a:p>
          <a:endParaRPr lang="en-US"/>
        </a:p>
      </dgm:t>
    </dgm:pt>
    <dgm:pt modelId="{C083FBFD-0DA9-4F53-A394-4DFC8202909E}" type="sibTrans" cxnId="{3B338E58-58EF-4F7D-9492-861E55D855F1}">
      <dgm:prSet/>
      <dgm:spPr/>
      <dgm:t>
        <a:bodyPr/>
        <a:lstStyle/>
        <a:p>
          <a:endParaRPr lang="en-US"/>
        </a:p>
      </dgm:t>
    </dgm:pt>
    <dgm:pt modelId="{9234653F-3CF8-47A0-9CDE-44C9BE62A15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Develop hands-on experience with cybersecurity tools and technologies.</a:t>
          </a:r>
        </a:p>
      </dgm:t>
    </dgm:pt>
    <dgm:pt modelId="{353C5DA8-57A9-4588-82B1-7BA4C7A2EA19}" type="parTrans" cxnId="{7C596F3C-8758-42C7-AA50-96BEF2AB397A}">
      <dgm:prSet/>
      <dgm:spPr/>
      <dgm:t>
        <a:bodyPr/>
        <a:lstStyle/>
        <a:p>
          <a:endParaRPr lang="en-US"/>
        </a:p>
      </dgm:t>
    </dgm:pt>
    <dgm:pt modelId="{669E90A6-7729-41A9-866C-906414F30EDF}" type="sibTrans" cxnId="{7C596F3C-8758-42C7-AA50-96BEF2AB397A}">
      <dgm:prSet/>
      <dgm:spPr/>
      <dgm:t>
        <a:bodyPr/>
        <a:lstStyle/>
        <a:p>
          <a:endParaRPr lang="en-US"/>
        </a:p>
      </dgm:t>
    </dgm:pt>
    <dgm:pt modelId="{F8F9DCBF-892D-4EA4-8583-0E42790B0C0C}">
      <dgm:prSet phldrT="[Text]" custT="1"/>
      <dgm:spPr/>
      <dgm:t>
        <a:bodyPr/>
        <a:lstStyle/>
        <a:p>
          <a:pPr marL="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To contribute to maintaining the confidentiality, integrity, and availability of organizational systems and data.</a:t>
          </a:r>
        </a:p>
      </dgm:t>
    </dgm:pt>
    <dgm:pt modelId="{65049319-AF30-4E44-8404-FB2F1D110DFE}" type="parTrans" cxnId="{84D8E914-985F-404C-8613-750F1A3078D2}">
      <dgm:prSet/>
      <dgm:spPr/>
      <dgm:t>
        <a:bodyPr/>
        <a:lstStyle/>
        <a:p>
          <a:endParaRPr lang="en-US"/>
        </a:p>
      </dgm:t>
    </dgm:pt>
    <dgm:pt modelId="{A2D9D5B6-4A35-456D-B7A0-3643AE1C4B82}" type="sibTrans" cxnId="{84D8E914-985F-404C-8613-750F1A3078D2}">
      <dgm:prSet/>
      <dgm:spPr/>
      <dgm:t>
        <a:bodyPr/>
        <a:lstStyle/>
        <a:p>
          <a:endParaRPr lang="en-US"/>
        </a:p>
      </dgm:t>
    </dgm:pt>
    <dgm:pt modelId="{F16ED154-A0DF-4697-99D0-69025334FCC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Strengthen knowledge of network security, system administration, and troubleshooting procedures.</a:t>
          </a:r>
        </a:p>
      </dgm:t>
    </dgm:pt>
    <dgm:pt modelId="{6B6D569B-78C1-427E-9E26-02F670444B34}" type="parTrans" cxnId="{B6022708-28E3-45FB-9E6E-CE0CCD1CE1FB}">
      <dgm:prSet/>
      <dgm:spPr/>
      <dgm:t>
        <a:bodyPr/>
        <a:lstStyle/>
        <a:p>
          <a:endParaRPr lang="en-US"/>
        </a:p>
      </dgm:t>
    </dgm:pt>
    <dgm:pt modelId="{CE085206-9610-4773-8B19-A66AF663EB3C}" type="sibTrans" cxnId="{B6022708-28E3-45FB-9E6E-CE0CCD1CE1FB}">
      <dgm:prSet/>
      <dgm:spPr/>
      <dgm:t>
        <a:bodyPr/>
        <a:lstStyle/>
        <a:p>
          <a:endParaRPr lang="en-US"/>
        </a:p>
      </dgm:t>
    </dgm:pt>
    <dgm:pt modelId="{190B7B19-32A9-4568-9AA2-426357F11FB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Enhance problem-solving, communication, and professional workplace skills.</a:t>
          </a:r>
        </a:p>
      </dgm:t>
    </dgm:pt>
    <dgm:pt modelId="{357FF6FD-A61E-4558-BF1F-A589B11F553E}" type="parTrans" cxnId="{6EF404C8-DE7D-40E0-84D7-C05C165A5E06}">
      <dgm:prSet/>
      <dgm:spPr/>
      <dgm:t>
        <a:bodyPr/>
        <a:lstStyle/>
        <a:p>
          <a:endParaRPr lang="en-US"/>
        </a:p>
      </dgm:t>
    </dgm:pt>
    <dgm:pt modelId="{693B967B-142E-402A-B77D-4A1629C543C2}" type="sibTrans" cxnId="{6EF404C8-DE7D-40E0-84D7-C05C165A5E06}">
      <dgm:prSet/>
      <dgm:spPr/>
      <dgm:t>
        <a:bodyPr/>
        <a:lstStyle/>
        <a:p>
          <a:endParaRPr lang="en-US"/>
        </a:p>
      </dgm:t>
    </dgm:pt>
    <dgm:pt modelId="{8486492B-30BA-4F29-A0AB-31047D95BFE5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Apply cybersecurity best practices to identify, analyze, and address security-related issues.</a:t>
          </a:r>
        </a:p>
      </dgm:t>
    </dgm:pt>
    <dgm:pt modelId="{E6268C80-FA6A-4537-B431-81E2C8B8E561}" type="parTrans" cxnId="{D168445D-555A-49EB-B464-B710B685F7FB}">
      <dgm:prSet/>
      <dgm:spPr/>
      <dgm:t>
        <a:bodyPr/>
        <a:lstStyle/>
        <a:p>
          <a:endParaRPr lang="en-US"/>
        </a:p>
      </dgm:t>
    </dgm:pt>
    <dgm:pt modelId="{C3988A63-8D9D-4558-A069-8C5D9471C9E9}" type="sibTrans" cxnId="{D168445D-555A-49EB-B464-B710B685F7FB}">
      <dgm:prSet/>
      <dgm:spPr/>
      <dgm:t>
        <a:bodyPr/>
        <a:lstStyle/>
        <a:p>
          <a:endParaRPr lang="en-US"/>
        </a:p>
      </dgm:t>
    </dgm:pt>
    <dgm:pt modelId="{C073420D-6ADA-4070-8ECD-640150E59EB7}" type="pres">
      <dgm:prSet presAssocID="{4DE5F385-DA11-480F-B8F4-79D682A381F0}" presName="Name0" presStyleCnt="0">
        <dgm:presLayoutVars>
          <dgm:dir/>
          <dgm:animLvl val="lvl"/>
          <dgm:resizeHandles val="exact"/>
        </dgm:presLayoutVars>
      </dgm:prSet>
      <dgm:spPr/>
    </dgm:pt>
    <dgm:pt modelId="{38F62C13-AEC2-407C-9023-95B45B66E37C}" type="pres">
      <dgm:prSet presAssocID="{1ECBF6B6-C163-41F1-B2B3-5C3CE03D75D4}" presName="linNode" presStyleCnt="0"/>
      <dgm:spPr/>
    </dgm:pt>
    <dgm:pt modelId="{DB968ABC-8E8E-443E-95CF-14FA90696FAA}" type="pres">
      <dgm:prSet presAssocID="{1ECBF6B6-C163-41F1-B2B3-5C3CE03D75D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F35936F-5A76-4F61-AB92-2202493CBB6E}" type="pres">
      <dgm:prSet presAssocID="{1ECBF6B6-C163-41F1-B2B3-5C3CE03D75D4}" presName="descendantText" presStyleLbl="alignAccFollowNode1" presStyleIdx="0" presStyleCnt="3">
        <dgm:presLayoutVars>
          <dgm:bulletEnabled val="1"/>
        </dgm:presLayoutVars>
      </dgm:prSet>
      <dgm:spPr/>
    </dgm:pt>
    <dgm:pt modelId="{77F063C9-6CA2-45E0-81F1-C1941A14BC06}" type="pres">
      <dgm:prSet presAssocID="{DCFE8F60-7EEF-437B-92F3-1D89C44A6187}" presName="sp" presStyleCnt="0"/>
      <dgm:spPr/>
    </dgm:pt>
    <dgm:pt modelId="{D0CBA5D8-1C65-4DD5-A2FE-1BF23FD94579}" type="pres">
      <dgm:prSet presAssocID="{AA57FD0D-07C7-4AF7-A9EB-CFF90EDCCE8D}" presName="linNode" presStyleCnt="0"/>
      <dgm:spPr/>
    </dgm:pt>
    <dgm:pt modelId="{98BAE2FD-D37B-4BC3-B778-C7D1B736E426}" type="pres">
      <dgm:prSet presAssocID="{AA57FD0D-07C7-4AF7-A9EB-CFF90EDCCE8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5331140-1F47-45EE-9B7F-5927871D8757}" type="pres">
      <dgm:prSet presAssocID="{AA57FD0D-07C7-4AF7-A9EB-CFF90EDCCE8D}" presName="descendantText" presStyleLbl="alignAccFollowNode1" presStyleIdx="1" presStyleCnt="3">
        <dgm:presLayoutVars>
          <dgm:bulletEnabled val="1"/>
        </dgm:presLayoutVars>
      </dgm:prSet>
      <dgm:spPr/>
    </dgm:pt>
    <dgm:pt modelId="{BCD6F679-46FE-48D3-B2A3-65FFDD97E0AF}" type="pres">
      <dgm:prSet presAssocID="{3D6AFBF5-3A3F-4905-B61B-012654FD0FAD}" presName="sp" presStyleCnt="0"/>
      <dgm:spPr/>
    </dgm:pt>
    <dgm:pt modelId="{FAB0EE62-DEF5-4211-B250-98557DEECA05}" type="pres">
      <dgm:prSet presAssocID="{888FBDE6-0B07-461B-BF1C-6D0873063A23}" presName="linNode" presStyleCnt="0"/>
      <dgm:spPr/>
    </dgm:pt>
    <dgm:pt modelId="{8534C7A6-521D-4EE8-A537-5B78956AE75E}" type="pres">
      <dgm:prSet presAssocID="{888FBDE6-0B07-461B-BF1C-6D0873063A2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CAEC722F-820B-45B8-A8B5-702507601627}" type="pres">
      <dgm:prSet presAssocID="{888FBDE6-0B07-461B-BF1C-6D0873063A2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C444401-E8B1-4968-ACE1-803D82E6EB0E}" srcId="{4DE5F385-DA11-480F-B8F4-79D682A381F0}" destId="{1ECBF6B6-C163-41F1-B2B3-5C3CE03D75D4}" srcOrd="0" destOrd="0" parTransId="{5DB8F82B-2AAE-4F6D-90C5-75350587ED1A}" sibTransId="{DCFE8F60-7EEF-437B-92F3-1D89C44A6187}"/>
    <dgm:cxn modelId="{B6022708-28E3-45FB-9E6E-CE0CCD1CE1FB}" srcId="{888FBDE6-0B07-461B-BF1C-6D0873063A23}" destId="{F16ED154-A0DF-4697-99D0-69025334FCC9}" srcOrd="1" destOrd="0" parTransId="{6B6D569B-78C1-427E-9E26-02F670444B34}" sibTransId="{CE085206-9610-4773-8B19-A66AF663EB3C}"/>
    <dgm:cxn modelId="{ED6EDA0C-911E-452E-9091-4BCB3EC40D41}" srcId="{AA57FD0D-07C7-4AF7-A9EB-CFF90EDCCE8D}" destId="{32D3D5C7-C654-4416-858E-988E892636BC}" srcOrd="0" destOrd="0" parTransId="{3DA7BA99-390B-4C7B-BF09-35D76468FFC0}" sibTransId="{28A9104A-FDAB-4A56-8338-7A294A492DDD}"/>
    <dgm:cxn modelId="{84D8E914-985F-404C-8613-750F1A3078D2}" srcId="{AA57FD0D-07C7-4AF7-A9EB-CFF90EDCCE8D}" destId="{F8F9DCBF-892D-4EA4-8583-0E42790B0C0C}" srcOrd="2" destOrd="0" parTransId="{65049319-AF30-4E44-8404-FB2F1D110DFE}" sibTransId="{A2D9D5B6-4A35-456D-B7A0-3643AE1C4B82}"/>
    <dgm:cxn modelId="{4DB6CE1C-AA90-4C49-A9E0-F8FC49E6C8B8}" type="presOf" srcId="{32D3D5C7-C654-4416-858E-988E892636BC}" destId="{75331140-1F47-45EE-9B7F-5927871D8757}" srcOrd="0" destOrd="0" presId="urn:microsoft.com/office/officeart/2005/8/layout/vList5"/>
    <dgm:cxn modelId="{0D36762B-ED64-4F9F-AD60-AA8D44B1E126}" srcId="{1ECBF6B6-C163-41F1-B2B3-5C3CE03D75D4}" destId="{4D741E7A-58FF-42F5-8BA0-E1B939CFD56E}" srcOrd="0" destOrd="0" parTransId="{EB5D254A-A0F3-433C-9834-F568797189B7}" sibTransId="{0FEA1613-9C8E-4DA3-8BF1-10E92F73748F}"/>
    <dgm:cxn modelId="{7C596F3C-8758-42C7-AA50-96BEF2AB397A}" srcId="{888FBDE6-0B07-461B-BF1C-6D0873063A23}" destId="{9234653F-3CF8-47A0-9CDE-44C9BE62A150}" srcOrd="0" destOrd="0" parTransId="{353C5DA8-57A9-4588-82B1-7BA4C7A2EA19}" sibTransId="{669E90A6-7729-41A9-866C-906414F30EDF}"/>
    <dgm:cxn modelId="{D168445D-555A-49EB-B464-B710B685F7FB}" srcId="{888FBDE6-0B07-461B-BF1C-6D0873063A23}" destId="{8486492B-30BA-4F29-A0AB-31047D95BFE5}" srcOrd="3" destOrd="0" parTransId="{E6268C80-FA6A-4537-B431-81E2C8B8E561}" sibTransId="{C3988A63-8D9D-4558-A069-8C5D9471C9E9}"/>
    <dgm:cxn modelId="{EFCEDD44-B63D-41F0-B696-1A048F47A254}" srcId="{1ECBF6B6-C163-41F1-B2B3-5C3CE03D75D4}" destId="{E5E4318D-9ED1-4E46-A498-36324F349D39}" srcOrd="1" destOrd="0" parTransId="{CB923E39-2FDD-40AB-8D6A-34F911169CD1}" sibTransId="{AF39A8AF-22A1-4D98-A3E0-EF99A3BA8FCC}"/>
    <dgm:cxn modelId="{B571A367-83D5-420B-82CA-C0943BBC4F34}" type="presOf" srcId="{190B7B19-32A9-4568-9AA2-426357F11FB9}" destId="{CAEC722F-820B-45B8-A8B5-702507601627}" srcOrd="0" destOrd="2" presId="urn:microsoft.com/office/officeart/2005/8/layout/vList5"/>
    <dgm:cxn modelId="{1447BB6E-98AC-4A1C-AA9C-49A9410E38F5}" type="presOf" srcId="{AA57FD0D-07C7-4AF7-A9EB-CFF90EDCCE8D}" destId="{98BAE2FD-D37B-4BC3-B778-C7D1B736E426}" srcOrd="0" destOrd="0" presId="urn:microsoft.com/office/officeart/2005/8/layout/vList5"/>
    <dgm:cxn modelId="{D1D82175-BE5D-4A3B-8FD3-1FA50CF88F89}" type="presOf" srcId="{9234653F-3CF8-47A0-9CDE-44C9BE62A150}" destId="{CAEC722F-820B-45B8-A8B5-702507601627}" srcOrd="0" destOrd="0" presId="urn:microsoft.com/office/officeart/2005/8/layout/vList5"/>
    <dgm:cxn modelId="{8A6B2978-BFCF-40AF-A2BB-D923A692B0F6}" srcId="{AA57FD0D-07C7-4AF7-A9EB-CFF90EDCCE8D}" destId="{77865AB4-7876-42B8-94D3-542940CA990A}" srcOrd="1" destOrd="0" parTransId="{4A852470-BA90-4868-9B37-E53ED91AE629}" sibTransId="{9781D616-1D5E-4760-9509-3D3A623129F1}"/>
    <dgm:cxn modelId="{3B338E58-58EF-4F7D-9492-861E55D855F1}" srcId="{4DE5F385-DA11-480F-B8F4-79D682A381F0}" destId="{888FBDE6-0B07-461B-BF1C-6D0873063A23}" srcOrd="2" destOrd="0" parTransId="{0A70D9EE-822D-40B8-BFA1-2A6C8E772A56}" sibTransId="{C083FBFD-0DA9-4F53-A394-4DFC8202909E}"/>
    <dgm:cxn modelId="{A18E4D59-AB5C-47DA-8FD5-FC966E33FFB0}" srcId="{4DE5F385-DA11-480F-B8F4-79D682A381F0}" destId="{AA57FD0D-07C7-4AF7-A9EB-CFF90EDCCE8D}" srcOrd="1" destOrd="0" parTransId="{D72577E5-689C-4DB6-BE33-1A314B834290}" sibTransId="{3D6AFBF5-3A3F-4905-B61B-012654FD0FAD}"/>
    <dgm:cxn modelId="{14F8328B-11AC-4E70-B669-088F800DBE17}" type="presOf" srcId="{4D741E7A-58FF-42F5-8BA0-E1B939CFD56E}" destId="{5F35936F-5A76-4F61-AB92-2202493CBB6E}" srcOrd="0" destOrd="0" presId="urn:microsoft.com/office/officeart/2005/8/layout/vList5"/>
    <dgm:cxn modelId="{C02B26A7-99F1-48BB-B1E6-ABCD463CD210}" type="presOf" srcId="{E5E4318D-9ED1-4E46-A498-36324F349D39}" destId="{5F35936F-5A76-4F61-AB92-2202493CBB6E}" srcOrd="0" destOrd="1" presId="urn:microsoft.com/office/officeart/2005/8/layout/vList5"/>
    <dgm:cxn modelId="{56E942A9-B7D9-4704-99D1-664D0DD4420F}" type="presOf" srcId="{4DE5F385-DA11-480F-B8F4-79D682A381F0}" destId="{C073420D-6ADA-4070-8ECD-640150E59EB7}" srcOrd="0" destOrd="0" presId="urn:microsoft.com/office/officeart/2005/8/layout/vList5"/>
    <dgm:cxn modelId="{125244AD-A2A6-47E5-A1FC-63F7ABF33966}" type="presOf" srcId="{8486492B-30BA-4F29-A0AB-31047D95BFE5}" destId="{CAEC722F-820B-45B8-A8B5-702507601627}" srcOrd="0" destOrd="3" presId="urn:microsoft.com/office/officeart/2005/8/layout/vList5"/>
    <dgm:cxn modelId="{5AF03BB4-BE5B-4A78-A575-1DD0156A80FF}" type="presOf" srcId="{F16ED154-A0DF-4697-99D0-69025334FCC9}" destId="{CAEC722F-820B-45B8-A8B5-702507601627}" srcOrd="0" destOrd="1" presId="urn:microsoft.com/office/officeart/2005/8/layout/vList5"/>
    <dgm:cxn modelId="{92BA1BC5-C789-41CF-A37A-1B744EF4794C}" type="presOf" srcId="{F8F9DCBF-892D-4EA4-8583-0E42790B0C0C}" destId="{75331140-1F47-45EE-9B7F-5927871D8757}" srcOrd="0" destOrd="2" presId="urn:microsoft.com/office/officeart/2005/8/layout/vList5"/>
    <dgm:cxn modelId="{6EF404C8-DE7D-40E0-84D7-C05C165A5E06}" srcId="{888FBDE6-0B07-461B-BF1C-6D0873063A23}" destId="{190B7B19-32A9-4568-9AA2-426357F11FB9}" srcOrd="2" destOrd="0" parTransId="{357FF6FD-A61E-4558-BF1F-A589B11F553E}" sibTransId="{693B967B-142E-402A-B77D-4A1629C543C2}"/>
    <dgm:cxn modelId="{6E1CC7CF-47FD-4428-8CF0-113B382A7AB9}" type="presOf" srcId="{77865AB4-7876-42B8-94D3-542940CA990A}" destId="{75331140-1F47-45EE-9B7F-5927871D8757}" srcOrd="0" destOrd="1" presId="urn:microsoft.com/office/officeart/2005/8/layout/vList5"/>
    <dgm:cxn modelId="{818539EA-4FCE-463F-8974-445E768C9226}" type="presOf" srcId="{1ECBF6B6-C163-41F1-B2B3-5C3CE03D75D4}" destId="{DB968ABC-8E8E-443E-95CF-14FA90696FAA}" srcOrd="0" destOrd="0" presId="urn:microsoft.com/office/officeart/2005/8/layout/vList5"/>
    <dgm:cxn modelId="{076B02EB-8F44-4322-96B9-6E8081C674B7}" type="presOf" srcId="{888FBDE6-0B07-461B-BF1C-6D0873063A23}" destId="{8534C7A6-521D-4EE8-A537-5B78956AE75E}" srcOrd="0" destOrd="0" presId="urn:microsoft.com/office/officeart/2005/8/layout/vList5"/>
    <dgm:cxn modelId="{5AD190D4-64E9-49CE-ACFB-7148C0524996}" type="presParOf" srcId="{C073420D-6ADA-4070-8ECD-640150E59EB7}" destId="{38F62C13-AEC2-407C-9023-95B45B66E37C}" srcOrd="0" destOrd="0" presId="urn:microsoft.com/office/officeart/2005/8/layout/vList5"/>
    <dgm:cxn modelId="{F2F41425-4D55-4C38-9BF6-BED3790203C5}" type="presParOf" srcId="{38F62C13-AEC2-407C-9023-95B45B66E37C}" destId="{DB968ABC-8E8E-443E-95CF-14FA90696FAA}" srcOrd="0" destOrd="0" presId="urn:microsoft.com/office/officeart/2005/8/layout/vList5"/>
    <dgm:cxn modelId="{815BF29D-FFEC-4131-A759-EBCED9F208ED}" type="presParOf" srcId="{38F62C13-AEC2-407C-9023-95B45B66E37C}" destId="{5F35936F-5A76-4F61-AB92-2202493CBB6E}" srcOrd="1" destOrd="0" presId="urn:microsoft.com/office/officeart/2005/8/layout/vList5"/>
    <dgm:cxn modelId="{A532C6E0-DA53-42B0-985D-5D2685DB3E83}" type="presParOf" srcId="{C073420D-6ADA-4070-8ECD-640150E59EB7}" destId="{77F063C9-6CA2-45E0-81F1-C1941A14BC06}" srcOrd="1" destOrd="0" presId="urn:microsoft.com/office/officeart/2005/8/layout/vList5"/>
    <dgm:cxn modelId="{48AE5DF4-06CC-4E4E-A2B4-8E118B18069C}" type="presParOf" srcId="{C073420D-6ADA-4070-8ECD-640150E59EB7}" destId="{D0CBA5D8-1C65-4DD5-A2FE-1BF23FD94579}" srcOrd="2" destOrd="0" presId="urn:microsoft.com/office/officeart/2005/8/layout/vList5"/>
    <dgm:cxn modelId="{8308CBDE-738E-479D-BB72-9F5364CBD6BA}" type="presParOf" srcId="{D0CBA5D8-1C65-4DD5-A2FE-1BF23FD94579}" destId="{98BAE2FD-D37B-4BC3-B778-C7D1B736E426}" srcOrd="0" destOrd="0" presId="urn:microsoft.com/office/officeart/2005/8/layout/vList5"/>
    <dgm:cxn modelId="{656FA8EC-76E7-4168-8344-4E1E5158C668}" type="presParOf" srcId="{D0CBA5D8-1C65-4DD5-A2FE-1BF23FD94579}" destId="{75331140-1F47-45EE-9B7F-5927871D8757}" srcOrd="1" destOrd="0" presId="urn:microsoft.com/office/officeart/2005/8/layout/vList5"/>
    <dgm:cxn modelId="{AE10FC1F-D554-4ACA-B529-BEBB3352421E}" type="presParOf" srcId="{C073420D-6ADA-4070-8ECD-640150E59EB7}" destId="{BCD6F679-46FE-48D3-B2A3-65FFDD97E0AF}" srcOrd="3" destOrd="0" presId="urn:microsoft.com/office/officeart/2005/8/layout/vList5"/>
    <dgm:cxn modelId="{627939BB-6493-4E89-807D-BB0C9AB99E4E}" type="presParOf" srcId="{C073420D-6ADA-4070-8ECD-640150E59EB7}" destId="{FAB0EE62-DEF5-4211-B250-98557DEECA05}" srcOrd="4" destOrd="0" presId="urn:microsoft.com/office/officeart/2005/8/layout/vList5"/>
    <dgm:cxn modelId="{3879A3C7-D6C0-4DC8-8CD5-9909EFF79177}" type="presParOf" srcId="{FAB0EE62-DEF5-4211-B250-98557DEECA05}" destId="{8534C7A6-521D-4EE8-A537-5B78956AE75E}" srcOrd="0" destOrd="0" presId="urn:microsoft.com/office/officeart/2005/8/layout/vList5"/>
    <dgm:cxn modelId="{2AFA1A8E-1906-4B4A-B17A-B155E8270E91}" type="presParOf" srcId="{FAB0EE62-DEF5-4211-B250-98557DEECA05}" destId="{CAEC722F-820B-45B8-A8B5-70250760162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5936F-5A76-4F61-AB92-2202493CBB6E}">
      <dsp:nvSpPr>
        <dsp:cNvPr id="0" name=""/>
        <dsp:cNvSpPr/>
      </dsp:nvSpPr>
      <dsp:spPr>
        <a:xfrm rot="5400000">
          <a:off x="7335323" y="-2902629"/>
          <a:ext cx="1402675" cy="756391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CYBERPROAi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 is an organization that provides information technology and cybersecurity services designed to support business operations and protect digital assets. implementing industry best practices.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 company focuses on maintaining secure systems, troubleshooting technical issues, and </a:t>
          </a:r>
        </a:p>
      </dsp:txBody>
      <dsp:txXfrm rot="-5400000">
        <a:off x="4254703" y="246464"/>
        <a:ext cx="7495443" cy="1265729"/>
      </dsp:txXfrm>
    </dsp:sp>
    <dsp:sp modelId="{DB968ABC-8E8E-443E-95CF-14FA90696FAA}">
      <dsp:nvSpPr>
        <dsp:cNvPr id="0" name=""/>
        <dsp:cNvSpPr/>
      </dsp:nvSpPr>
      <dsp:spPr>
        <a:xfrm>
          <a:off x="0" y="2656"/>
          <a:ext cx="4254703" cy="1753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Organization Overview</a:t>
          </a:r>
        </a:p>
      </dsp:txBody>
      <dsp:txXfrm>
        <a:off x="85591" y="88247"/>
        <a:ext cx="4083521" cy="1582162"/>
      </dsp:txXfrm>
    </dsp:sp>
    <dsp:sp modelId="{75331140-1F47-45EE-9B7F-5927871D8757}">
      <dsp:nvSpPr>
        <dsp:cNvPr id="0" name=""/>
        <dsp:cNvSpPr/>
      </dsp:nvSpPr>
      <dsp:spPr>
        <a:xfrm rot="5400000">
          <a:off x="7335323" y="-1061618"/>
          <a:ext cx="1402675" cy="756391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To gain practical experience in cybersecurity operations and information technology support.</a:t>
          </a:r>
        </a:p>
        <a:p>
          <a:pPr marL="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To apply cybersecurity concepts learned in academic coursework to real-world environments.</a:t>
          </a:r>
        </a:p>
        <a:p>
          <a:pPr marL="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To contribute to maintaining the confidentiality, integrity, and availability of organizational systems and data.</a:t>
          </a:r>
        </a:p>
      </dsp:txBody>
      <dsp:txXfrm rot="-5400000">
        <a:off x="4254703" y="2087475"/>
        <a:ext cx="7495443" cy="1265729"/>
      </dsp:txXfrm>
    </dsp:sp>
    <dsp:sp modelId="{98BAE2FD-D37B-4BC3-B778-C7D1B736E426}">
      <dsp:nvSpPr>
        <dsp:cNvPr id="0" name=""/>
        <dsp:cNvSpPr/>
      </dsp:nvSpPr>
      <dsp:spPr>
        <a:xfrm>
          <a:off x="0" y="1843667"/>
          <a:ext cx="4254703" cy="1753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Project Purpose</a:t>
          </a:r>
        </a:p>
      </dsp:txBody>
      <dsp:txXfrm>
        <a:off x="85591" y="1929258"/>
        <a:ext cx="4083521" cy="1582162"/>
      </dsp:txXfrm>
    </dsp:sp>
    <dsp:sp modelId="{CAEC722F-820B-45B8-A8B5-702507601627}">
      <dsp:nvSpPr>
        <dsp:cNvPr id="0" name=""/>
        <dsp:cNvSpPr/>
      </dsp:nvSpPr>
      <dsp:spPr>
        <a:xfrm rot="5400000">
          <a:off x="7335323" y="779392"/>
          <a:ext cx="1402675" cy="756391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Develop hands-on experience with cybersecurity tools and technologies.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Strengthen knowledge of network security, system administration, and troubleshooting procedures.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Enhance problem-solving, communication, and professional workplace skills.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Apply cybersecurity best practices to identify, analyze, and address security-related issues.</a:t>
          </a:r>
        </a:p>
      </dsp:txBody>
      <dsp:txXfrm rot="-5400000">
        <a:off x="4254703" y="3928486"/>
        <a:ext cx="7495443" cy="1265729"/>
      </dsp:txXfrm>
    </dsp:sp>
    <dsp:sp modelId="{8534C7A6-521D-4EE8-A537-5B78956AE75E}">
      <dsp:nvSpPr>
        <dsp:cNvPr id="0" name=""/>
        <dsp:cNvSpPr/>
      </dsp:nvSpPr>
      <dsp:spPr>
        <a:xfrm>
          <a:off x="0" y="3684679"/>
          <a:ext cx="4254703" cy="1753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Project Objectives</a:t>
          </a:r>
        </a:p>
      </dsp:txBody>
      <dsp:txXfrm>
        <a:off x="85591" y="3770270"/>
        <a:ext cx="4083521" cy="15821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7977-DC19-182B-6A0C-2D070114B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614F0-17FA-8D7F-2E08-49577FEC2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C79DE-405D-EFFC-D375-CC9FF513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5900-D331-B3B8-137F-03DEFB2A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34CE0-7FAB-33C3-1842-DBD1BEAB2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8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9586-5E6F-3C88-C43E-E458E266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04718-9015-325C-2AB6-B8989D6C6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3791D-9D7D-348A-10A5-7AF0281B5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C7D1A-844C-0FE5-08CB-7BEA9FB3F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F5AB1-D17C-2B9F-60A0-DD1A4B71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6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522B-D669-BE02-A4F5-38CA13CA3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3F99-DABB-4560-F266-8FE1D6341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7D00E-23F9-1F66-6DFF-79E45010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1C1E3-19A3-F858-82ED-4430F9B9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DB441-148F-CC16-E7FC-8FC4E3CA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86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03344-7B0A-7998-A985-2E31B512B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FFE42-AFFA-66AD-91EA-479422415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AD8EC-053C-6E76-921B-6091CF237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2C77F-FC9F-CE5F-CC70-EBE57537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05D0F-8140-5188-5B49-1550E5E2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64681-E2BE-42AF-0CDD-72F41FB3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2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ECFA2-5BF4-06F9-E3DA-01B68578B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8F44B-107A-9EA1-1E50-7048B07F6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3CC30-64B9-599E-13E1-0056434E9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6C721-351E-7185-6E84-8EC580D31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B2499-5608-D75C-2B29-06CF61EB5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62E92-8CCC-1549-67DB-2C4A4941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9A7BB-3CD1-BF14-0D73-A1FD92883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AF5B7-CEFF-05B4-6B41-3124C4D8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0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8EE84-BAD9-8BD7-A950-A468B90CA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B6795-8EA7-ABF7-8496-C95D4155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B29F4-EE77-BE92-213B-D9C84E679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9AB2C-9D10-2BC3-5067-156E19B5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3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55BFA-4DFD-CCF1-34F7-2362C319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A27A11-C90E-FE6C-F957-7C0E4B1BC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C9402-4D76-449A-798E-20FB4976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36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1F9EB-5E11-B2EF-63F7-DA2AEE88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36A88-05F4-01E3-CB44-FD43624B8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C9A9A-BBDA-194E-30F6-7C765CF96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BAA71-48CE-A090-3F4C-24CE62FD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10608-9A28-D983-AAD2-47A5A23E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6D90C-B925-66DE-D0C3-4ABD669F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13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F862-3131-7295-02B7-952E8387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65BB2A-4387-769F-C468-6A57B2601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80507-2177-8728-3166-B0B7E407E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00B4D-3FAA-A104-3B61-4052DF0BB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9CF30-F9F0-21B1-7B13-9FFA7F71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1406A-A97E-073A-52D1-AF9B0FDD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20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5BD76-334A-FCC5-2341-89F5ADC86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15A36-6107-2F32-FDA7-5305FC425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00D5-563B-BC2C-EB06-AA941BC2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3E053-606A-6FB8-3C6E-12B5C700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1EB2A-B5DA-C57F-D363-09B5071A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0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F16DBD-E72A-81AE-8F2C-198F92009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40720-F7A9-1A43-5F00-0FBC8B3DA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6F247-7202-8457-5E49-1642E606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8E667-7D64-4585-C22B-EA9438C1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1361E-DB17-E7C1-1DC2-ACA42E00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EF19B5-3179-B5A7-9F8E-481B50A1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846AC-307F-C827-39A2-04F10CB2D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33F2F-0061-3B36-5142-395E265B9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C694C-39A3-46DB-B466-AA57C1AF725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76FA7-B48D-5510-A183-1D48DCB38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497CD-AC6B-FC09-04C6-CCBA6569E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7AA8F-DFFC-4AF7-B3F5-914CA56FD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7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CBD2-1279-4F5B-7493-6E2379B52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0835"/>
            <a:ext cx="12192000" cy="935037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Cybersecurity Internship Project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207653A-1D14-1A66-B693-CBD1CB984F12}"/>
              </a:ext>
            </a:extLst>
          </p:cNvPr>
          <p:cNvSpPr txBox="1">
            <a:spLocks/>
          </p:cNvSpPr>
          <p:nvPr/>
        </p:nvSpPr>
        <p:spPr>
          <a:xfrm>
            <a:off x="7234564" y="6435403"/>
            <a:ext cx="4847572" cy="36325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Presented by Benito </a:t>
            </a:r>
            <a:r>
              <a:rPr lang="en-US" dirty="0" err="1"/>
              <a:t>Koukpohounsi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C4335B-4046-2C9F-C644-133F3522ADD2}"/>
              </a:ext>
            </a:extLst>
          </p:cNvPr>
          <p:cNvSpPr txBox="1"/>
          <p:nvPr/>
        </p:nvSpPr>
        <p:spPr>
          <a:xfrm>
            <a:off x="1565910" y="2136650"/>
            <a:ext cx="89763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/>
              <a:t>Internship Site/Company: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CYB </a:t>
            </a:r>
            <a:r>
              <a:rPr lang="en-US" sz="2400" dirty="0" err="1">
                <a:solidFill>
                  <a:srgbClr val="FF0000"/>
                </a:solidFill>
              </a:rPr>
              <a:t>ERPROAi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 algn="ctr">
              <a:buNone/>
            </a:pPr>
            <a:r>
              <a:rPr lang="en-US" sz="2000" b="1" dirty="0"/>
              <a:t>Course:</a:t>
            </a:r>
            <a:r>
              <a:rPr lang="en-US" sz="2000" dirty="0"/>
              <a:t> Cybersecurity Internship</a:t>
            </a:r>
          </a:p>
          <a:p>
            <a:pPr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Semester:</a:t>
            </a:r>
            <a:r>
              <a:rPr lang="en-US" dirty="0"/>
              <a:t> Summer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4B970D-3A40-871C-A0AB-B232CE267D80}"/>
              </a:ext>
            </a:extLst>
          </p:cNvPr>
          <p:cNvSpPr txBox="1"/>
          <p:nvPr/>
        </p:nvSpPr>
        <p:spPr>
          <a:xfrm>
            <a:off x="385354" y="64293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Date:</a:t>
            </a:r>
            <a:r>
              <a:rPr lang="en-US" dirty="0"/>
              <a:t> June 2026</a:t>
            </a:r>
          </a:p>
        </p:txBody>
      </p:sp>
    </p:spTree>
    <p:extLst>
      <p:ext uri="{BB962C8B-B14F-4D97-AF65-F5344CB8AC3E}">
        <p14:creationId xmlns:p14="http://schemas.microsoft.com/office/powerpoint/2010/main" val="156805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A6902-3BE3-11FB-A537-87C22AD7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07975"/>
            <a:ext cx="10515600" cy="686435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C5D617-9D68-2101-97B8-180CD4C568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548276"/>
              </p:ext>
            </p:extLst>
          </p:nvPr>
        </p:nvGraphicFramePr>
        <p:xfrm>
          <a:off x="274320" y="1280160"/>
          <a:ext cx="11818620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5702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159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Cybersecurity Internship Project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BENITO KOUKPOHOUNSI</dc:creator>
  <cp:lastModifiedBy>BENITO KOUKPOHOUNSI</cp:lastModifiedBy>
  <cp:revision>3</cp:revision>
  <dcterms:created xsi:type="dcterms:W3CDTF">2026-06-15T04:51:38Z</dcterms:created>
  <dcterms:modified xsi:type="dcterms:W3CDTF">2026-06-15T04:56:09Z</dcterms:modified>
</cp:coreProperties>
</file>